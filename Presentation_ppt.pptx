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61" r:id="rId7"/>
    <p:sldId id="259" r:id="rId8"/>
    <p:sldId id="265" r:id="rId9"/>
    <p:sldId id="262" r:id="rId10"/>
    <p:sldId id="263" r:id="rId11"/>
    <p:sldId id="264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4CD68"/>
            </a:gs>
            <a:gs pos="100000">
              <a:srgbClr val="035C7D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57855" y="2647950"/>
            <a:ext cx="5875655" cy="1082675"/>
          </a:xfrm>
        </p:spPr>
        <p:txBody>
          <a:bodyPr/>
          <a:p>
            <a:pPr algn="ctr"/>
            <a:r>
              <a:rPr lang="en-US" sz="2400"/>
              <a:t>Ana Melissa Alonso Reina</a:t>
            </a:r>
            <a:endParaRPr lang="en-US" sz="2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0890" y="1370965"/>
            <a:ext cx="10949305" cy="920750"/>
          </a:xfrm>
        </p:spPr>
        <p:txBody>
          <a:bodyPr/>
          <a:p>
            <a:r>
              <a:rPr lang="en-US" sz="4000"/>
              <a:t>Auxiliar para la creación de un plan de rodaje</a:t>
            </a:r>
            <a:endParaRPr lang="en-US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Plan de rodaje de “Abuelas y Mazmorras”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t="25917" r="21954" b="8180"/>
          <a:stretch>
            <a:fillRect/>
          </a:stretch>
        </p:blipFill>
        <p:spPr>
          <a:xfrm>
            <a:off x="196850" y="1303020"/>
            <a:ext cx="11306810" cy="53708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rcRect l="17483" t="18337" r="52390" b="15961"/>
          <a:stretch>
            <a:fillRect/>
          </a:stretch>
        </p:blipFill>
        <p:spPr>
          <a:xfrm>
            <a:off x="5334000" y="361315"/>
            <a:ext cx="5001260" cy="613537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833755" y="1017270"/>
            <a:ext cx="3889375" cy="5084445"/>
          </a:xfrm>
          <a:prstGeom prst="rect">
            <a:avLst/>
          </a:prstGeom>
        </p:spPr>
        <p:txBody>
          <a:bodyPr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Calibri" panose="020F0502020204030204"/>
                <a:ea typeface="等线"/>
              </a:rPr>
              <a:t>Por cada escena se detalla el número que la representa, si ocurre en el interior o en exterior, el momento del día que puede ser día, noche, mañana, amanecer,etc</a:t>
            </a:r>
            <a:r>
              <a:rPr lang="en-US" sz="2000">
                <a:latin typeface="Calibri" panose="020F0502020204030204"/>
                <a:ea typeface="等线"/>
              </a:rPr>
              <a:t>.</a:t>
            </a:r>
            <a:endParaRPr lang="en-US" sz="2000">
              <a:latin typeface="Calibri" panose="020F05020202040302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Calibri" panose="020F0502020204030204"/>
                <a:ea typeface="等线"/>
              </a:rPr>
              <a:t>L</a:t>
            </a:r>
            <a:r>
              <a:rPr sz="2000">
                <a:latin typeface="Calibri" panose="020F0502020204030204"/>
                <a:ea typeface="等线"/>
              </a:rPr>
              <a:t>a página del guion en la qu</a:t>
            </a:r>
            <a:r>
              <a:rPr lang="en-US" sz="2000">
                <a:latin typeface="Calibri" panose="020F0502020204030204"/>
                <a:ea typeface="等线"/>
              </a:rPr>
              <a:t>e</a:t>
            </a:r>
            <a:r>
              <a:rPr sz="2000">
                <a:latin typeface="Calibri" panose="020F0502020204030204"/>
                <a:ea typeface="等线"/>
              </a:rPr>
              <a:t> comi</a:t>
            </a:r>
            <a:r>
              <a:rPr lang="en-US" sz="2000">
                <a:latin typeface="Calibri" panose="020F0502020204030204"/>
                <a:ea typeface="等线"/>
              </a:rPr>
              <a:t>en</a:t>
            </a:r>
            <a:r>
              <a:rPr sz="2000">
                <a:latin typeface="Calibri" panose="020F0502020204030204"/>
                <a:ea typeface="等线"/>
              </a:rPr>
              <a:t>za la escena, su duración, la locación, es decir, el lugar en que se va a filmar, el set que no es más que lo que representa ese lugar en la historia</a:t>
            </a:r>
            <a:r>
              <a:rPr lang="en-US" sz="2000">
                <a:latin typeface="Calibri" panose="020F0502020204030204"/>
                <a:ea typeface="等线"/>
              </a:rPr>
              <a:t> y </a:t>
            </a:r>
            <a:r>
              <a:rPr lang="en-US" altLang="en-US" sz="2000">
                <a:latin typeface="Calibri" panose="020F0502020204030204"/>
                <a:ea typeface="等线"/>
              </a:rPr>
              <a:t>la acción que es una descripción general de lo que ocurre en la escena para ayudar a identificarla.</a:t>
            </a:r>
            <a:endParaRPr lang="en-US" altLang="en-US" sz="2000">
              <a:latin typeface="Calibri" panose="020F0502020204030204"/>
              <a:ea typeface="等线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2261" t="18787" r="52508" b="17895"/>
          <a:stretch>
            <a:fillRect/>
          </a:stretch>
        </p:blipFill>
        <p:spPr>
          <a:xfrm>
            <a:off x="4516755" y="716915"/>
            <a:ext cx="6508115" cy="512508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93370" y="2485390"/>
            <a:ext cx="3874135" cy="3768090"/>
          </a:xfrm>
          <a:prstGeom prst="rect">
            <a:avLst/>
          </a:prstGeom>
        </p:spPr>
        <p:txBody>
          <a:bodyPr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Calibri" panose="020F0502020204030204"/>
                <a:ea typeface="等线"/>
              </a:rPr>
              <a:t>En la parte inferior del plan de rodaje aparece una tabla con cada actor involucrado</a:t>
            </a:r>
            <a:r>
              <a:rPr lang="en-US" sz="2000">
                <a:latin typeface="Calibri" panose="020F0502020204030204"/>
                <a:ea typeface="等线"/>
              </a:rPr>
              <a:t>, </a:t>
            </a:r>
            <a:r>
              <a:rPr sz="2000">
                <a:latin typeface="Calibri" panose="020F0502020204030204"/>
                <a:ea typeface="等线"/>
              </a:rPr>
              <a:t>el personaje que representa</a:t>
            </a:r>
            <a:r>
              <a:rPr lang="en-US" sz="2000">
                <a:latin typeface="Calibri" panose="020F0502020204030204"/>
                <a:ea typeface="等线"/>
              </a:rPr>
              <a:t> y</a:t>
            </a:r>
            <a:r>
              <a:rPr sz="2000">
                <a:latin typeface="Calibri" panose="020F0502020204030204"/>
                <a:ea typeface="等线"/>
              </a:rPr>
              <a:t> el número que le corresponde a ese personaje. Entonces si el personaje aparece en la escena se marca la celda correspondiente como en este caso que en la primera escena aparecen solamente Eva, Simone y Hugo.</a:t>
            </a:r>
            <a:endParaRPr sz="2000">
              <a:latin typeface="Calibri" panose="020F0502020204030204"/>
              <a:ea typeface="等线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268605"/>
            <a:ext cx="10016490" cy="1346200"/>
          </a:xfrm>
        </p:spPr>
        <p:txBody>
          <a:bodyPr/>
          <a:p>
            <a:pPr marL="0" indent="0">
              <a:buNone/>
            </a:pPr>
            <a:r>
              <a:rPr lang="en-US" altLang="en-US" sz="1800" b="1"/>
              <a:t>Expresión regular</a:t>
            </a:r>
            <a:r>
              <a:rPr lang="en-US" altLang="en-US" sz="1800"/>
              <a:t>: Regex, o expresión regular, es un conjunto de caracteres que define un patrón de búsqueda en texto. Se utiliza en múltiples lenguajes de programación y herramientas para encontrar coincidencias en cadenas de texto, reemplazar caracteres o validar formatos.</a:t>
            </a:r>
            <a:endParaRPr lang="en-US" altLang="en-US" sz="1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10156" t="38150" r="14254" b="39594"/>
          <a:stretch>
            <a:fillRect/>
          </a:stretch>
        </p:blipFill>
        <p:spPr>
          <a:xfrm>
            <a:off x="1676400" y="2073910"/>
            <a:ext cx="7628255" cy="12636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485900" y="1614805"/>
            <a:ext cx="8009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Ejemplo de encabezado generado con KitScenarist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19898" t="67705" r="17516" b="12946"/>
          <a:stretch>
            <a:fillRect/>
          </a:stretch>
        </p:blipFill>
        <p:spPr>
          <a:xfrm>
            <a:off x="1653540" y="4344035"/>
            <a:ext cx="7651115" cy="13303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485900" y="3637280"/>
            <a:ext cx="8009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/>
              <a:t>Ejemplo de encabezado no generado con KitScenarist que omite el número de la escena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treamlit_app"/>
          <p:cNvPicPr>
            <a:picLocks noChangeAspect="1"/>
          </p:cNvPicPr>
          <p:nvPr/>
        </p:nvPicPr>
        <p:blipFill>
          <a:blip r:embed="rId1"/>
          <a:srcRect l="14873" t="19085" r="11363" b="6346"/>
          <a:stretch>
            <a:fillRect/>
          </a:stretch>
        </p:blipFill>
        <p:spPr>
          <a:xfrm>
            <a:off x="1819910" y="245110"/>
            <a:ext cx="7493635" cy="42621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17805" y="4636135"/>
            <a:ext cx="10697845" cy="1990725"/>
          </a:xfrm>
          <a:prstGeom prst="rect">
            <a:avLst/>
          </a:prstGeom>
        </p:spPr>
        <p:txBody>
          <a:bodyPr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>
                <a:latin typeface="Calibri" panose="020F0502020204030204"/>
                <a:ea typeface="等线"/>
              </a:rPr>
              <a:t>En</a:t>
            </a:r>
            <a:r>
              <a:rPr lang="en-US">
                <a:latin typeface="Calibri" panose="020F0502020204030204"/>
                <a:ea typeface="等线"/>
              </a:rPr>
              <a:t> </a:t>
            </a:r>
            <a:r>
              <a:rPr>
                <a:latin typeface="Calibri" panose="020F0502020204030204"/>
                <a:ea typeface="等线"/>
              </a:rPr>
              <a:t>caso de no ingresar un archivo </a:t>
            </a:r>
            <a:r>
              <a:rPr lang="en-US">
                <a:latin typeface="Calibri" panose="020F0502020204030204"/>
                <a:ea typeface="等线"/>
              </a:rPr>
              <a:t>con la duración de escenas </a:t>
            </a:r>
            <a:r>
              <a:rPr>
                <a:latin typeface="Calibri" panose="020F0502020204030204"/>
                <a:ea typeface="等线"/>
              </a:rPr>
              <a:t>se calculará l</a:t>
            </a:r>
            <a:r>
              <a:rPr lang="en-US">
                <a:latin typeface="Calibri" panose="020F0502020204030204"/>
                <a:ea typeface="等线"/>
              </a:rPr>
              <a:t>a </a:t>
            </a:r>
            <a:r>
              <a:rPr>
                <a:latin typeface="Calibri" panose="020F0502020204030204"/>
                <a:ea typeface="等线"/>
              </a:rPr>
              <a:t>duración utilizando</a:t>
            </a:r>
            <a:r>
              <a:rPr lang="en-US">
                <a:latin typeface="Calibri" panose="020F0502020204030204"/>
                <a:ea typeface="等线"/>
              </a:rPr>
              <a:t> </a:t>
            </a:r>
            <a:r>
              <a:rPr>
                <a:latin typeface="Calibri" panose="020F0502020204030204"/>
                <a:ea typeface="等线"/>
              </a:rPr>
              <a:t>la idea de que cada página de un guion equivale a 60 segundos</a:t>
            </a:r>
            <a:r>
              <a:rPr lang="en-US">
                <a:latin typeface="Calibri" panose="020F0502020204030204"/>
                <a:ea typeface="等线"/>
              </a:rPr>
              <a:t> </a:t>
            </a:r>
            <a:r>
              <a:rPr>
                <a:latin typeface="Calibri" panose="020F0502020204030204"/>
                <a:ea typeface="等线"/>
              </a:rPr>
              <a:t>en pantalla; por lo</a:t>
            </a:r>
            <a:r>
              <a:rPr lang="en-US">
                <a:latin typeface="Calibri" panose="020F0502020204030204"/>
                <a:ea typeface="等线"/>
              </a:rPr>
              <a:t> </a:t>
            </a:r>
            <a:r>
              <a:rPr>
                <a:latin typeface="Calibri" panose="020F0502020204030204"/>
                <a:ea typeface="等线"/>
              </a:rPr>
              <a:t>tanto, calculamos un valor para las líneas de una p</a:t>
            </a:r>
            <a:r>
              <a:rPr lang="en-US">
                <a:latin typeface="Calibri" panose="020F0502020204030204"/>
                <a:ea typeface="等线"/>
              </a:rPr>
              <a:t>á</a:t>
            </a:r>
            <a:r>
              <a:rPr>
                <a:latin typeface="Calibri" panose="020F0502020204030204"/>
                <a:ea typeface="等线"/>
              </a:rPr>
              <a:t>gina, lo cual</a:t>
            </a:r>
            <a:r>
              <a:rPr lang="en-US">
                <a:latin typeface="Calibri" panose="020F0502020204030204"/>
                <a:ea typeface="等线"/>
              </a:rPr>
              <a:t> </a:t>
            </a:r>
            <a:r>
              <a:rPr>
                <a:latin typeface="Calibri" panose="020F0502020204030204"/>
                <a:ea typeface="等线"/>
              </a:rPr>
              <a:t>nos permite dar</a:t>
            </a:r>
            <a:r>
              <a:rPr lang="en-US">
                <a:latin typeface="Calibri" panose="020F0502020204030204"/>
                <a:ea typeface="等线"/>
              </a:rPr>
              <a:t> </a:t>
            </a:r>
            <a:r>
              <a:rPr>
                <a:latin typeface="Calibri" panose="020F0502020204030204"/>
                <a:ea typeface="等线"/>
              </a:rPr>
              <a:t>la duraci</a:t>
            </a:r>
            <a:r>
              <a:rPr lang="en-US">
                <a:latin typeface="Calibri" panose="020F0502020204030204"/>
                <a:ea typeface="等线"/>
              </a:rPr>
              <a:t>ó</a:t>
            </a:r>
            <a:r>
              <a:rPr>
                <a:latin typeface="Calibri" panose="020F0502020204030204"/>
                <a:ea typeface="等线"/>
              </a:rPr>
              <a:t>n de una escena con respecto a las l</a:t>
            </a:r>
            <a:r>
              <a:rPr lang="en-US">
                <a:latin typeface="Calibri" panose="020F0502020204030204"/>
                <a:ea typeface="等线"/>
              </a:rPr>
              <a:t>í</a:t>
            </a:r>
            <a:r>
              <a:rPr>
                <a:latin typeface="Calibri" panose="020F0502020204030204"/>
                <a:ea typeface="等线"/>
              </a:rPr>
              <a:t>neas que contenga. Este m</a:t>
            </a:r>
            <a:r>
              <a:rPr lang="en-US">
                <a:latin typeface="Calibri" panose="020F0502020204030204"/>
                <a:ea typeface="等线"/>
              </a:rPr>
              <a:t>é</a:t>
            </a:r>
            <a:r>
              <a:rPr>
                <a:latin typeface="Calibri" panose="020F0502020204030204"/>
                <a:ea typeface="等线"/>
              </a:rPr>
              <a:t>todo</a:t>
            </a:r>
            <a:r>
              <a:rPr lang="en-US">
                <a:latin typeface="Calibri" panose="020F0502020204030204"/>
                <a:ea typeface="等线"/>
              </a:rPr>
              <a:t> </a:t>
            </a:r>
            <a:r>
              <a:rPr>
                <a:latin typeface="Calibri" panose="020F0502020204030204"/>
                <a:ea typeface="等线"/>
              </a:rPr>
              <a:t>da valores incorrectos cuando se quiere calcular el tiempo de la </a:t>
            </a:r>
            <a:r>
              <a:rPr lang="en-US">
                <a:latin typeface="Calibri" panose="020F0502020204030204"/>
                <a:ea typeface="等线"/>
              </a:rPr>
              <a:t>ú</a:t>
            </a:r>
            <a:r>
              <a:rPr>
                <a:latin typeface="Calibri" panose="020F0502020204030204"/>
                <a:ea typeface="等线"/>
              </a:rPr>
              <a:t>ltima escena</a:t>
            </a:r>
            <a:r>
              <a:rPr lang="en-US">
                <a:latin typeface="Calibri" panose="020F0502020204030204"/>
                <a:ea typeface="等线"/>
              </a:rPr>
              <a:t> </a:t>
            </a:r>
            <a:r>
              <a:rPr>
                <a:latin typeface="Calibri" panose="020F0502020204030204"/>
                <a:ea typeface="等线"/>
              </a:rPr>
              <a:t>del guion, la cual</a:t>
            </a:r>
            <a:r>
              <a:rPr lang="en-US">
                <a:latin typeface="Calibri" panose="020F0502020204030204"/>
                <a:ea typeface="等线"/>
              </a:rPr>
              <a:t> </a:t>
            </a:r>
            <a:r>
              <a:rPr>
                <a:latin typeface="Calibri" panose="020F0502020204030204"/>
                <a:ea typeface="等线"/>
              </a:rPr>
              <a:t>habitualmente no ocupa todo el espacio de la p</a:t>
            </a:r>
            <a:r>
              <a:rPr lang="en-US">
                <a:latin typeface="Calibri" panose="020F0502020204030204"/>
                <a:ea typeface="等线"/>
              </a:rPr>
              <a:t>á</a:t>
            </a:r>
            <a:r>
              <a:rPr>
                <a:latin typeface="Calibri" panose="020F0502020204030204"/>
                <a:ea typeface="等线"/>
              </a:rPr>
              <a:t>gina que la</a:t>
            </a:r>
            <a:endParaRPr>
              <a:latin typeface="Calibri" panose="020F05020202040302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>
                <a:latin typeface="Calibri" panose="020F0502020204030204"/>
                <a:ea typeface="等线"/>
              </a:rPr>
              <a:t>contiene. Para este caso se calcula la duraci</a:t>
            </a:r>
            <a:r>
              <a:rPr lang="en-US">
                <a:latin typeface="Calibri" panose="020F0502020204030204"/>
                <a:ea typeface="等线"/>
              </a:rPr>
              <a:t>ó</a:t>
            </a:r>
            <a:r>
              <a:rPr>
                <a:latin typeface="Calibri" panose="020F0502020204030204"/>
                <a:ea typeface="等线"/>
              </a:rPr>
              <a:t>n por la cantidad de caracteres que</a:t>
            </a:r>
            <a:endParaRPr>
              <a:latin typeface="Calibri" panose="020F05020202040302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>
                <a:latin typeface="Calibri" panose="020F0502020204030204"/>
                <a:ea typeface="等线"/>
              </a:rPr>
              <a:t>aparezcan en la escena y dividiendo esto</a:t>
            </a:r>
            <a:r>
              <a:rPr lang="en-US">
                <a:latin typeface="Calibri" panose="020F0502020204030204"/>
                <a:ea typeface="等线"/>
              </a:rPr>
              <a:t> </a:t>
            </a:r>
            <a:r>
              <a:rPr>
                <a:latin typeface="Calibri" panose="020F0502020204030204"/>
                <a:ea typeface="等线"/>
              </a:rPr>
              <a:t>por 60 y luego por 17.</a:t>
            </a:r>
            <a:endParaRPr>
              <a:latin typeface="Calibri" panose="020F0502020204030204"/>
              <a:ea typeface="等线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200275" y="457835"/>
            <a:ext cx="6885305" cy="129159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Calibri" panose="020F0502020204030204"/>
                <a:ea typeface="等线"/>
              </a:rPr>
              <a:t>L</a:t>
            </a:r>
            <a:r>
              <a:rPr sz="2000">
                <a:latin typeface="Calibri" panose="020F0502020204030204"/>
                <a:ea typeface="等线"/>
              </a:rPr>
              <a:t>a extracción de personajes</a:t>
            </a:r>
            <a:r>
              <a:rPr lang="en-US" sz="2000">
                <a:latin typeface="Calibri" panose="020F0502020204030204"/>
                <a:ea typeface="等线"/>
              </a:rPr>
              <a:t> es más que solo</a:t>
            </a:r>
            <a:r>
              <a:rPr sz="2000">
                <a:latin typeface="Calibri" panose="020F0502020204030204"/>
                <a:ea typeface="等线"/>
              </a:rPr>
              <a:t> buscar los nombres que aparecen en el texto de la escena</a:t>
            </a:r>
            <a:r>
              <a:rPr lang="en-US" sz="2000">
                <a:latin typeface="Calibri" panose="020F0502020204030204"/>
                <a:ea typeface="等线"/>
              </a:rPr>
              <a:t>. </a:t>
            </a:r>
            <a:r>
              <a:rPr lang="en-US" altLang="en-US" sz="2000">
                <a:latin typeface="Calibri" panose="020F0502020204030204"/>
                <a:ea typeface="等线"/>
              </a:rPr>
              <a:t>Podemos encontrar una escena en la que hayan personajes a los que nunca se les da nombre, como a la vecina en esta escena:</a:t>
            </a:r>
            <a:endParaRPr lang="en-US" altLang="en-US" sz="2000">
              <a:latin typeface="Calibri" panose="020F0502020204030204"/>
              <a:ea typeface="等线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15240" t="28083" r="17052" b="9574"/>
          <a:stretch>
            <a:fillRect/>
          </a:stretch>
        </p:blipFill>
        <p:spPr>
          <a:xfrm>
            <a:off x="1515745" y="1918970"/>
            <a:ext cx="8255000" cy="4275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389255" y="3260090"/>
            <a:ext cx="1113282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b="1">
                <a:latin typeface="Calibri" panose="020F0502020204030204"/>
                <a:ea typeface="等线"/>
              </a:rPr>
              <a:t>LLM</a:t>
            </a:r>
            <a:r>
              <a:rPr lang="en-US" b="1">
                <a:latin typeface="Calibri" panose="020F0502020204030204"/>
                <a:ea typeface="等线"/>
              </a:rPr>
              <a:t>: </a:t>
            </a:r>
            <a:r>
              <a:rPr>
                <a:latin typeface="Calibri" panose="020F0502020204030204"/>
                <a:ea typeface="等线"/>
              </a:rPr>
              <a:t>modelo grande de lenguaje con gran cantidad de parámetros que pasa por un preentrenamiento para procesar el lenguaje humano.</a:t>
            </a:r>
            <a:endParaRPr>
              <a:latin typeface="Calibri" panose="020F0502020204030204"/>
              <a:ea typeface="等线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87045" y="824865"/>
            <a:ext cx="10531475" cy="1923415"/>
          </a:xfrm>
          <a:prstGeom prst="rect">
            <a:avLst/>
          </a:prstGeom>
        </p:spPr>
        <p:txBody>
          <a:bodyPr>
            <a:no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sz="2000">
                <a:latin typeface="Calibri" panose="020F0502020204030204"/>
                <a:ea typeface="等线"/>
              </a:rPr>
              <a:t>Se optó por usar una API</a:t>
            </a:r>
            <a:r>
              <a:rPr lang="en-US" sz="2000">
                <a:latin typeface="Calibri" panose="020F0502020204030204"/>
                <a:ea typeface="等线"/>
              </a:rPr>
              <a:t> </a:t>
            </a:r>
            <a:r>
              <a:rPr sz="2000">
                <a:latin typeface="Calibri" panose="020F0502020204030204"/>
                <a:ea typeface="等线"/>
              </a:rPr>
              <a:t>de Gemini (a las cuales da acceso ai.google.dev mediante un api key de manera gratuita) debido a la superioridad de análisis que mostró el modelo de Gemini en el contexto de la extracción de personajes con respecto a otros modelos, al igual que en el número de tokens </a:t>
            </a:r>
            <a:r>
              <a:rPr lang="en-US" sz="2000">
                <a:latin typeface="Calibri" panose="020F0502020204030204"/>
                <a:ea typeface="等线"/>
              </a:rPr>
              <a:t>(cantidad de texto que se puede enviar en una misma petición) </a:t>
            </a:r>
            <a:r>
              <a:rPr sz="2000">
                <a:latin typeface="Calibri" panose="020F0502020204030204"/>
                <a:ea typeface="等线"/>
              </a:rPr>
              <a:t>que suministraba.</a:t>
            </a:r>
            <a:endParaRPr sz="2000">
              <a:latin typeface="Calibri" panose="020F0502020204030204"/>
              <a:ea typeface="等线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89255" y="3973830"/>
            <a:ext cx="108794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 b="1"/>
              <a:t>API:</a:t>
            </a:r>
            <a:r>
              <a:rPr lang="en-US" altLang="en-US" sz="1600"/>
              <a:t> (Interfaz de Programación de Aplicaciones) es un conjunto de definiciones y protocolos que permite que dos aplicaciones se comuniquen entre sí. </a:t>
            </a:r>
            <a:endParaRPr lang="en-US" altLang="en-US" sz="1600"/>
          </a:p>
        </p:txBody>
      </p:sp>
      <p:sp>
        <p:nvSpPr>
          <p:cNvPr id="10" name="Text Box 9"/>
          <p:cNvSpPr txBox="1"/>
          <p:nvPr/>
        </p:nvSpPr>
        <p:spPr>
          <a:xfrm>
            <a:off x="466090" y="5004435"/>
            <a:ext cx="1022794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/>
              <a:t>La API de Gemini es un modelo de inteligencia artificial desarrollado por Google, diseñado para ofrecer capacidades avanzadas de procesamiento de lenguaje natural y generación de contenido en múltiples formatos, como texto, imágenes y audio. Esta API permite a los desarrolladores integrar funciones de IA en sus aplicaciones.</a:t>
            </a:r>
            <a:endParaRPr lang="en-US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11212" t="27771" r="10937" b="4923"/>
          <a:stretch>
            <a:fillRect/>
          </a:stretch>
        </p:blipFill>
        <p:spPr>
          <a:xfrm>
            <a:off x="1478280" y="1849120"/>
            <a:ext cx="8753475" cy="42570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00125" y="431800"/>
            <a:ext cx="9710420" cy="11938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>
                <a:latin typeface="Calibri" panose="020F0502020204030204"/>
                <a:ea typeface="等线"/>
              </a:rPr>
              <a:t>Aunque Gemini logró identificar los personajes mejor que otros modelos más sencillos que se utilizaron de manera local (offline) también presentó problemas como: identificar que en esta escena cuando se menciona a las 3 mujeres se hace referencia a las Eva, Lucía y Ángela, entonces en este caso extraía las 3 mujeres como otros personajes, lo cual es incorrecto. </a:t>
            </a:r>
            <a:endParaRPr>
              <a:latin typeface="Calibri" panose="020F0502020204030204"/>
              <a:ea typeface="等线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3570" y="605155"/>
            <a:ext cx="7450455" cy="582930"/>
          </a:xfrm>
        </p:spPr>
        <p:txBody>
          <a:bodyPr/>
          <a:p>
            <a:r>
              <a:rPr lang="en-US"/>
              <a:t>Ejemplo de resultado del programa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2182" t="19074" r="25453" b="39944"/>
          <a:stretch>
            <a:fillRect/>
          </a:stretch>
        </p:blipFill>
        <p:spPr>
          <a:xfrm>
            <a:off x="663575" y="1308100"/>
            <a:ext cx="9910445" cy="3157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7060" y="588645"/>
            <a:ext cx="8178800" cy="582930"/>
          </a:xfrm>
        </p:spPr>
        <p:txBody>
          <a:bodyPr/>
          <a:p>
            <a:r>
              <a:rPr lang="en-US"/>
              <a:t>Ejemplo de lo que va en la fila NOTAS: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20783" t="10499" r="2191" b="50657"/>
          <a:stretch>
            <a:fillRect/>
          </a:stretch>
        </p:blipFill>
        <p:spPr>
          <a:xfrm>
            <a:off x="334010" y="1425575"/>
            <a:ext cx="11264265" cy="3195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3560</Words>
  <Application>WPS Presentation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等线</vt:lpstr>
      <vt:lpstr>Microsoft YaHei</vt:lpstr>
      <vt:lpstr>Arial Unicode MS</vt:lpstr>
      <vt:lpstr>Blue Waves</vt:lpstr>
      <vt:lpstr>PowerPoint 演示文稿</vt:lpstr>
      <vt:lpstr>Plan de rodaje de “Abuelas y Mazmorras”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Ejemplo de resultado del programa</vt:lpstr>
      <vt:lpstr>Ejemplo de lo que va en la fila NOTAS: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Melissa</dc:creator>
  <cp:lastModifiedBy>Melissa</cp:lastModifiedBy>
  <cp:revision>4</cp:revision>
  <dcterms:created xsi:type="dcterms:W3CDTF">2025-05-28T13:31:00Z</dcterms:created>
  <dcterms:modified xsi:type="dcterms:W3CDTF">2025-05-28T16:11:16Z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A8BEFB921DDE429794DDD1D334603EA1_11</vt:lpwstr>
  </property>
  <property fmtid="{D5CDD505-2E9C-101B-9397-08002B2CF9AE}" pid="3" name="KSOProductBuildVer">
    <vt:lpwstr>1033-12.2.0.21179</vt:lpwstr>
  </property>
</Properties>
</file>